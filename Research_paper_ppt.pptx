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20"/>
  </p:notesMasterIdLst>
  <p:handoutMasterIdLst>
    <p:handoutMasterId r:id="rId21"/>
  </p:handoutMasterIdLst>
  <p:sldIdLst>
    <p:sldId id="256" r:id="rId6"/>
    <p:sldId id="269" r:id="rId7"/>
    <p:sldId id="270" r:id="rId8"/>
    <p:sldId id="272" r:id="rId9"/>
    <p:sldId id="273" r:id="rId10"/>
    <p:sldId id="276" r:id="rId11"/>
    <p:sldId id="279" r:id="rId12"/>
    <p:sldId id="283" r:id="rId13"/>
    <p:sldId id="286" r:id="rId14"/>
    <p:sldId id="289" r:id="rId15"/>
    <p:sldId id="291" r:id="rId16"/>
    <p:sldId id="292" r:id="rId17"/>
    <p:sldId id="293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5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v Prakash (MAQ LLC)" userId="31ffd925-2522-49c4-83be-0d54dd68fdc1" providerId="ADAL" clId="{C2BBC432-AF12-4336-BE50-88A8C386DF25}"/>
    <pc:docChg chg="custSel addSld delSld modSld">
      <pc:chgData name="Saurav Prakash (MAQ LLC)" userId="31ffd925-2522-49c4-83be-0d54dd68fdc1" providerId="ADAL" clId="{C2BBC432-AF12-4336-BE50-88A8C386DF25}" dt="2026-05-02T07:30:25.321" v="5" actId="26606"/>
      <pc:docMkLst>
        <pc:docMk/>
      </pc:docMkLst>
      <pc:sldChg chg="modSp del mod">
        <pc:chgData name="Saurav Prakash (MAQ LLC)" userId="31ffd925-2522-49c4-83be-0d54dd68fdc1" providerId="ADAL" clId="{C2BBC432-AF12-4336-BE50-88A8C386DF25}" dt="2026-05-01T05:38:54.966" v="2" actId="26606"/>
        <pc:sldMkLst>
          <pc:docMk/>
          <pc:sldMk cId="0" sldId="257"/>
        </pc:sldMkLst>
        <pc:spChg chg="mod">
          <ac:chgData name="Saurav Prakash (MAQ LLC)" userId="31ffd925-2522-49c4-83be-0d54dd68fdc1" providerId="ADAL" clId="{C2BBC432-AF12-4336-BE50-88A8C386DF25}" dt="2026-05-01T05:07:02.826" v="0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add mod">
        <pc:chgData name="Saurav Prakash (MAQ LLC)" userId="31ffd925-2522-49c4-83be-0d54dd68fdc1" providerId="ADAL" clId="{C2BBC432-AF12-4336-BE50-88A8C386DF25}" dt="2026-05-01T05:53:07.765" v="3" actId="26606"/>
        <pc:sldMkLst>
          <pc:docMk/>
          <pc:sldMk cId="0" sldId="269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69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688233573" sldId="269"/>
        </pc:sldMkLst>
      </pc:sldChg>
      <pc:sldChg chg="addSp delSp modSp add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0"/>
        </pc:sldMkLst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0"/>
            <ac:spMk id="2" creationId="{00000000-0000-0000-0000-000000000000}"/>
          </ac:spMkLst>
        </pc:spChg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0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0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0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0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3041078539" sldId="270"/>
        </pc:sldMkLst>
      </pc:sldChg>
      <pc:sldChg chg="addSp delSp add del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1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1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3057308032" sldId="271"/>
        </pc:sldMkLst>
      </pc:sldChg>
      <pc:sldChg chg="addSp delSp modSp add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2"/>
        </pc:sldMkLst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2"/>
            <ac:spMk id="2" creationId="{00000000-0000-0000-0000-000000000000}"/>
          </ac:spMkLst>
        </pc:spChg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2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2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2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2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2132959513" sldId="272"/>
        </pc:sldMkLst>
      </pc:sldChg>
      <pc:sldChg chg="addSp delSp modSp add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3"/>
        </pc:sldMkLst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3"/>
            <ac:spMk id="2" creationId="{00000000-0000-0000-0000-000000000000}"/>
          </ac:spMkLst>
        </pc:spChg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3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3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3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3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834241287" sldId="273"/>
        </pc:sldMkLst>
      </pc:sldChg>
      <pc:sldChg chg="addSp delSp add del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4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4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687982010" sldId="274"/>
        </pc:sldMkLst>
      </pc:sldChg>
      <pc:sldChg chg="addSp delSp add del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5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5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3460918839" sldId="275"/>
        </pc:sldMkLst>
      </pc:sldChg>
      <pc:sldChg chg="addSp delSp modSp add mod">
        <pc:chgData name="Saurav Prakash (MAQ LLC)" userId="31ffd925-2522-49c4-83be-0d54dd68fdc1" providerId="ADAL" clId="{C2BBC432-AF12-4336-BE50-88A8C386DF25}" dt="2026-05-02T07:30:25.321" v="5" actId="26606"/>
        <pc:sldMkLst>
          <pc:docMk/>
          <pc:sldMk cId="0" sldId="276"/>
        </pc:sldMkLst>
        <pc:spChg chg="add 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" creationId="{00000000-0000-0000-0000-000000000000}"/>
          </ac:spMkLst>
        </pc:spChg>
        <pc:spChg chg="add del mo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6"/>
            <ac:spMk id="4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76"/>
            <ac:spMk id="50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6"/>
            <ac:spMk id="200" creationId="{00000000-0000-0000-0000-000000000000}"/>
          </ac:spMkLst>
        </pc:spChg>
        <pc:spChg chg="add 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1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2" creationId="{00000000-0000-0000-0000-000000000000}"/>
          </ac:spMkLst>
        </pc:spChg>
        <pc:spChg chg="add 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3" creationId="{00000000-0000-0000-0000-000000000000}"/>
          </ac:spMkLst>
        </pc:spChg>
        <pc:spChg chg="add 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5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6"/>
            <ac:spMk id="206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7" creationId="{00000000-0000-0000-0000-000000000000}"/>
          </ac:spMkLst>
        </pc:spChg>
        <pc:spChg chg="add 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08" creationId="{00000000-0000-0000-0000-000000000000}"/>
          </ac:spMkLst>
        </pc:spChg>
        <pc:spChg chg="add 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6"/>
            <ac:spMk id="250" creationId="{00000000-0000-0000-0000-000000000000}"/>
          </ac:spMkLst>
        </pc:sp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76"/>
            <ac:graphicFrameMk id="100" creationId="{00000000-0000-0000-0000-000000000000}"/>
          </ac:graphicFrameMkLst>
        </pc:graphicFrame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76"/>
            <ac:graphicFrameMk id="101" creationId="{00000000-0000-0000-0000-000000000000}"/>
          </ac:graphicFrameMkLst>
        </pc:graphicFrame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865725117" sldId="276"/>
        </pc:sldMkLst>
      </pc:sldChg>
      <pc:sldChg chg="addSp delSp add del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7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7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107444087" sldId="277"/>
        </pc:sldMkLst>
      </pc:sldChg>
      <pc:sldChg chg="addSp delSp add del mod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78"/>
        </pc:sldMkLst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2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4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5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108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1T05:53:07.765" v="3" actId="26606"/>
          <ac:spMkLst>
            <pc:docMk/>
            <pc:sldMk cId="0" sldId="278"/>
            <ac:spMk id="110" creationId="{00000000-0000-0000-0000-000000000000}"/>
          </ac:spMkLst>
        </pc:sp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995793032" sldId="278"/>
        </pc:sldMkLst>
      </pc:sldChg>
      <pc:sldChg chg="addSp delSp modSp add mod">
        <pc:chgData name="Saurav Prakash (MAQ LLC)" userId="31ffd925-2522-49c4-83be-0d54dd68fdc1" providerId="ADAL" clId="{C2BBC432-AF12-4336-BE50-88A8C386DF25}" dt="2026-05-02T07:30:25.321" v="5" actId="26606"/>
        <pc:sldMkLst>
          <pc:docMk/>
          <pc:sldMk cId="0" sldId="279"/>
        </pc:sldMkLst>
        <pc:spChg chg="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79"/>
            <ac:spMk id="3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300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301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302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303" creationId="{00000000-0000-0000-0000-000000000000}"/>
          </ac:spMkLst>
        </pc:spChg>
        <pc:spChg chg="del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79"/>
            <ac:spMk id="304" creationId="{00000000-0000-0000-0000-000000000000}"/>
          </ac:spMkLst>
        </pc:sp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79"/>
            <ac:graphicFrameMk id="100" creationId="{00000000-0000-0000-0000-000000000000}"/>
          </ac:graphicFrameMkLst>
        </pc:graphicFrame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661578755" sldId="279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0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695299038" sldId="280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1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2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414543060" sldId="282"/>
        </pc:sldMkLst>
      </pc:sldChg>
      <pc:sldChg chg="addSp delSp modSp add mod">
        <pc:chgData name="Saurav Prakash (MAQ LLC)" userId="31ffd925-2522-49c4-83be-0d54dd68fdc1" providerId="ADAL" clId="{C2BBC432-AF12-4336-BE50-88A8C386DF25}" dt="2026-05-02T07:30:25.321" v="5" actId="26606"/>
        <pc:sldMkLst>
          <pc:docMk/>
          <pc:sldMk cId="0" sldId="283"/>
        </pc:sldMkLst>
        <pc:spChg chg="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83"/>
            <ac:spMk id="2" creationId="{00000000-0000-0000-0000-000000000000}"/>
          </ac:spMkLst>
        </pc:spChg>
        <pc:spChg chg="del mo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3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3"/>
            <ac:spMk id="50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3"/>
            <ac:spMk id="51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3"/>
            <ac:spMk id="52" creationId="{00000000-0000-0000-0000-000000000000}"/>
          </ac:spMkLst>
        </pc:spChg>
        <pc:graphicFrameChg chg="add del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3"/>
            <ac:graphicFrameMk id="100" creationId="{00000000-0000-0000-0000-000000000000}"/>
          </ac:graphicFrameMkLst>
        </pc:graphicFrame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3"/>
            <ac:graphicFrameMk id="101" creationId="{00000000-0000-0000-0000-000000000000}"/>
          </ac:graphicFrameMkLst>
        </pc:graphicFrame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3"/>
            <ac:graphicFrameMk id="102" creationId="{00000000-0000-0000-0000-000000000000}"/>
          </ac:graphicFrameMkLst>
        </pc:graphicFrame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4216846467" sldId="283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4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3539986150" sldId="284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5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2796599032" sldId="285"/>
        </pc:sldMkLst>
      </pc:sldChg>
      <pc:sldChg chg="addSp delSp modSp add mod">
        <pc:chgData name="Saurav Prakash (MAQ LLC)" userId="31ffd925-2522-49c4-83be-0d54dd68fdc1" providerId="ADAL" clId="{C2BBC432-AF12-4336-BE50-88A8C386DF25}" dt="2026-05-02T07:30:25.321" v="5" actId="26606"/>
        <pc:sldMkLst>
          <pc:docMk/>
          <pc:sldMk cId="0" sldId="286"/>
        </pc:sldMkLst>
        <pc:spChg chg="del mo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6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6"/>
            <ac:spMk id="50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6"/>
            <ac:spMk id="51" creationId="{00000000-0000-0000-0000-000000000000}"/>
          </ac:spMkLst>
        </pc:sp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6"/>
            <ac:graphicFrameMk id="100" creationId="{00000000-0000-0000-0000-000000000000}"/>
          </ac:graphicFrameMkLst>
        </pc:graphicFrame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6"/>
            <ac:graphicFrameMk id="101" creationId="{00000000-0000-0000-0000-000000000000}"/>
          </ac:graphicFrameMkLst>
        </pc:graphicFrame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773634682" sldId="286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7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2980969666" sldId="287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88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395959288" sldId="288"/>
        </pc:sldMkLst>
      </pc:sldChg>
      <pc:sldChg chg="addSp delSp modSp add mod">
        <pc:chgData name="Saurav Prakash (MAQ LLC)" userId="31ffd925-2522-49c4-83be-0d54dd68fdc1" providerId="ADAL" clId="{C2BBC432-AF12-4336-BE50-88A8C386DF25}" dt="2026-05-02T07:30:25.321" v="5" actId="26606"/>
        <pc:sldMkLst>
          <pc:docMk/>
          <pc:sldMk cId="0" sldId="289"/>
        </pc:sldMkLst>
        <pc:spChg chg="mod">
          <ac:chgData name="Saurav Prakash (MAQ LLC)" userId="31ffd925-2522-49c4-83be-0d54dd68fdc1" providerId="ADAL" clId="{C2BBC432-AF12-4336-BE50-88A8C386DF25}" dt="2026-05-02T05:33:36.982" v="4" actId="26606"/>
          <ac:spMkLst>
            <pc:docMk/>
            <pc:sldMk cId="0" sldId="289"/>
            <ac:spMk id="2" creationId="{00000000-0000-0000-0000-000000000000}"/>
          </ac:spMkLst>
        </pc:spChg>
        <pc:spChg chg="del mo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9"/>
            <ac:spMk id="3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9"/>
            <ac:spMk id="50" creationId="{00000000-0000-0000-0000-000000000000}"/>
          </ac:spMkLst>
        </pc:spChg>
        <pc:spChg chg="add">
          <ac:chgData name="Saurav Prakash (MAQ LLC)" userId="31ffd925-2522-49c4-83be-0d54dd68fdc1" providerId="ADAL" clId="{C2BBC432-AF12-4336-BE50-88A8C386DF25}" dt="2026-05-02T07:30:25.321" v="5" actId="26606"/>
          <ac:spMkLst>
            <pc:docMk/>
            <pc:sldMk cId="0" sldId="289"/>
            <ac:spMk id="51" creationId="{00000000-0000-0000-0000-000000000000}"/>
          </ac:spMkLst>
        </pc:spChg>
        <pc:graphicFrameChg chg="add del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9"/>
            <ac:graphicFrameMk id="100" creationId="{00000000-0000-0000-0000-000000000000}"/>
          </ac:graphicFrameMkLst>
        </pc:graphicFrameChg>
        <pc:graphicFrameChg chg="add">
          <ac:chgData name="Saurav Prakash (MAQ LLC)" userId="31ffd925-2522-49c4-83be-0d54dd68fdc1" providerId="ADAL" clId="{C2BBC432-AF12-4336-BE50-88A8C386DF25}" dt="2026-05-02T07:30:25.321" v="5" actId="26606"/>
          <ac:graphicFrameMkLst>
            <pc:docMk/>
            <pc:sldMk cId="0" sldId="289"/>
            <ac:graphicFrameMk id="101" creationId="{00000000-0000-0000-0000-000000000000}"/>
          </ac:graphicFrameMkLst>
        </pc:graphicFrameChg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816813758" sldId="289"/>
        </pc:sldMkLst>
      </pc:sldChg>
      <pc:sldChg chg="add del">
        <pc:chgData name="Saurav Prakash (MAQ LLC)" userId="31ffd925-2522-49c4-83be-0d54dd68fdc1" providerId="ADAL" clId="{C2BBC432-AF12-4336-BE50-88A8C386DF25}" dt="2026-05-02T05:33:36.982" v="4" actId="26606"/>
        <pc:sldMkLst>
          <pc:docMk/>
          <pc:sldMk cId="0" sldId="290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1985757241" sldId="290"/>
        </pc:sldMkLst>
      </pc:sldChg>
      <pc:sldChg chg="add">
        <pc:chgData name="Saurav Prakash (MAQ LLC)" userId="31ffd925-2522-49c4-83be-0d54dd68fdc1" providerId="ADAL" clId="{C2BBC432-AF12-4336-BE50-88A8C386DF25}" dt="2026-05-01T05:53:07.765" v="3" actId="26606"/>
        <pc:sldMkLst>
          <pc:docMk/>
          <pc:sldMk cId="0" sldId="291"/>
        </pc:sldMkLst>
      </pc:sldChg>
      <pc:sldChg chg="del">
        <pc:chgData name="Saurav Prakash (MAQ LLC)" userId="31ffd925-2522-49c4-83be-0d54dd68fdc1" providerId="ADAL" clId="{C2BBC432-AF12-4336-BE50-88A8C386DF25}" dt="2026-05-01T05:07:35.715" v="1" actId="47"/>
        <pc:sldMkLst>
          <pc:docMk/>
          <pc:sldMk cId="2242183173" sldId="291"/>
        </pc:sldMkLst>
      </pc:sldChg>
      <pc:sldChg chg="add">
        <pc:chgData name="Saurav Prakash (MAQ LLC)" userId="31ffd925-2522-49c4-83be-0d54dd68fdc1" providerId="ADAL" clId="{C2BBC432-AF12-4336-BE50-88A8C386DF25}" dt="2026-05-01T05:53:07.765" v="3" actId="26606"/>
        <pc:sldMkLst>
          <pc:docMk/>
          <pc:sldMk cId="0" sldId="292"/>
        </pc:sldMkLst>
      </pc:sldChg>
      <pc:sldChg chg="add">
        <pc:chgData name="Saurav Prakash (MAQ LLC)" userId="31ffd925-2522-49c4-83be-0d54dd68fdc1" providerId="ADAL" clId="{C2BBC432-AF12-4336-BE50-88A8C386DF25}" dt="2026-05-01T05:53:07.765" v="3" actId="26606"/>
        <pc:sldMkLst>
          <pc:docMk/>
          <pc:sldMk cId="0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5/4/2026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5/4/2026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5/4/2026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5/4/2026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b="1" dirty="0"/>
              <a:t>Performance Analysis and Optimization Techniques for Large-Scale Power BI Semantic Models 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Saurav Prakash			Ashish Sharma			Arpita Rana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2210990807			   2210991403			   </a:t>
            </a:r>
            <a:r>
              <a:rPr lang="en-I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2210991359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Nipun Modi (Project Lead)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at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MAQ Software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Summary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framework for performance analysis and optimization of Power BI semantic models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Results: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~30-35% reduction in load time, ~10-15% improvement in query execution efficiency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(MCP)-based approach reduces analysis time by ~90-95%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Schema conversion (snowflake to star), calculated column elimination, relationship cardinality optimization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 Impact: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Potential savings of ~20-35% in cloud infrastructure expenses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Framework applicable to enterprise-level Power BI implementations</a:t>
            </a:r>
          </a:p>
          <a:p>
            <a:pPr>
              <a:lnSpc>
                <a:spcPct val="80000"/>
              </a:lnSpc>
            </a:pPr>
            <a:endParaRPr lang="en-US" sz="40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Power BI; Semantic Models; Performance Optimization; Model Context Protocol; Schema Design; DAX Optimization; Query Performance; Cloud Analytics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BI in Enterprise Environments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Leading self-service BI platform processing petabytes of data daily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Semantic Layer: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models, relationships, and DAX calculations form the foundational architecture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Dependency: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All reports and dashboards depend on semantic model performance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Bottleneck Symptoms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Extended Load Times: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Reports taking multiple seconds to render initial visuals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Delayed Query Responses: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DAX engine processing exceeding user tolerance thresholds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 Cost Overruns: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Capacity consumption beyond budgeted thresholds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Adoption &amp; High TCO: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Suboptimal user adoption and increased cost of ownership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Challenges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Domain experts manually inspect models, requiring multiple hours per report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Gap: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cannot keep pace with growing enterprise models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Expertise Dependency: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knowledge limits optimization to a small group of experts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Reactive approach impedes business agility and increases time-to-insight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&amp; Problem Statement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Quantify performance degradation patterns in inefficient semantic models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validate a comprehensive optimization framework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Introduce MCP-based automated analysis to accelerate diagnostic workflows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Measure improvements and establish replicable optimization strategies for enterprise use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ROI in time savings and infrastructure cost reduction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Systematic Framework: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approach across schema design, relationship cardinality, and DAX efficiency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MCP Automation: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~90-95% time reduction in analysis workflows with quantitative validation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 Guidelines: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 for large-scale Power BI deployments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 Statement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Time-Intensive: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requires multiple hours per model (inspection, testing, validation)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No Standardization: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lack standardized optimization procedures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 Overruns: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Poorly optimized models consume excessive cloud capacity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 Gap: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address DAX, schema, and relationships in isolation with no MCP integration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Research Gap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Schema &amp; DAX Optimization Studies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Russo &amp; Ferrari (2020):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Star schemas optimize performance; snowflake schemas introduce unnecessary joins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Frsincar et al. (2019):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columns significantly impact refresh performance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Webb &amp; Ferrari (2018):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SUMX/FILTER inefficiency impacts query time; VAR/RETURN reduces calculation time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Russo (2021):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relationships introduce 15-25% performance overhead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Anti-Pattern Studies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Kim et al. (2022):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enterprise models exhibit anti-patterns (denormalized tables, M:M relationships)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Verma et al. (2021):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Query performance improvements yield proportional CU consumption reduction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Lopez et al. (2021):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Capacity unit consumption patterns in Power BI Premium environments</a:t>
            </a:r>
          </a:p>
          <a:p>
            <a:pPr>
              <a:lnSpc>
                <a:spcPct val="80000"/>
              </a:lnSpc>
            </a:pPr>
            <a:endParaRPr lang="en-US" sz="200"/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 Limitations: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(Tabular Editor, DAX Studio) require manual intervention and specialized expertise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Framework: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addresses DAX, schema, and relationships separately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buChar char="•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Novel Contribution: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No prior literature documents systematic MCP integration for accelerated semantic model analysis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Framework &amp; Phases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669247"/>
              </p:ext>
            </p:extLst>
          </p:nvPr>
        </p:nvGraphicFramePr>
        <p:xfrm>
          <a:off x="349250" y="1050000"/>
          <a:ext cx="8400000" cy="2520000"/>
        </p:xfrm>
        <a:graphic>
          <a:graphicData uri="http://schemas.openxmlformats.org/drawingml/2006/table">
            <a:tbl>
              <a:tblPr firstRow="1" bandRow="1"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Phase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Activities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Diagnostic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Schema evaluation, relationship cardinality assessment, performance baseline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Snowflake schema detection, M:M flagging, bidirectional filter assessment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Schema conversion strategy, relationship restructuring, DAX refactoring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Implementation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Staged deployment (Dev to QA to Prod), data type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Validation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Before-after comparison, user acceptance testing, cost impact analysis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SectionHeader"/>
          <p:cNvSpPr txBox="1"/>
          <p:nvPr/>
        </p:nvSpPr>
        <p:spPr>
          <a:xfrm>
            <a:off x="349250" y="37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Diagnostic Analysis (Phases 1-2)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81047"/>
              </p:ext>
            </p:extLst>
          </p:nvPr>
        </p:nvGraphicFramePr>
        <p:xfrm>
          <a:off x="349250" y="4050000"/>
          <a:ext cx="8400000" cy="152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Focus Area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Detection Threshold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Schema Structure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Evaluate table relationships and join patterns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Normalization level assessment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Relationship Cardinality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Assess 1:M vs M:M and filter directions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Bidirectional filter flagging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Anti-Pattern Detection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Flag known performance anti-patterns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Rel. depth &gt; 2, calc columns &gt; 5/table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Techniques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163368"/>
              </p:ext>
            </p:extLst>
          </p:nvPr>
        </p:nvGraphicFramePr>
        <p:xfrm>
          <a:off x="349250" y="1050000"/>
          <a:ext cx="8400000" cy="2967952"/>
        </p:xfrm>
        <a:graphic>
          <a:graphicData uri="http://schemas.openxmlformats.org/drawingml/2006/table">
            <a:tbl>
              <a:tblPr firstRow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Anti-Pattern (Before)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Optimized (After)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Schema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Multiple join hops, O(n^3) complexity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Denormalized into DimProduct, single hop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25-35% query 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Calculated Columns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Computed every row at refresh (+15-25% model size)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On-demand measures at query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20-30% faster refresh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Relationship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Bidirectional filters, circular propagation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Unidirectional flow (Dim to Fact)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15-25% overhead removed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DAX: VAR/RETURN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Repeating expressions in IF patterns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Single calculation with VAR/RETURN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Reduced FE cost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DAX: DIVIDE()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Manual division-by-zero risk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Safe division with default value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Error elimination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DAX: SUM vs SUMX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Per-row iteration (SUMX)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Single aggregation pass (SUM)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Faster aggregation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Cardinality Reduction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RowNumber columns, redundant keys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Removed unnecessary columns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8-12% model size reduction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Methodology</a:t>
            </a:r>
          </a:p>
        </p:txBody>
      </p:sp>
      <p:sp>
        <p:nvSpPr>
          <p:cNvPr id="50" name="SectionHeader"/>
          <p:cNvSpPr txBox="1"/>
          <p:nvPr/>
        </p:nvSpPr>
        <p:spPr>
          <a:xfrm>
            <a:off x="349250" y="10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Dataset and Environment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17997"/>
              </p:ext>
            </p:extLst>
          </p:nvPr>
        </p:nvGraphicFramePr>
        <p:xfrm>
          <a:off x="349250" y="1350000"/>
          <a:ext cx="8400000" cy="132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Details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Fact Table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Millions of transactions with multiple fact and foreign key columns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Dimensions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Primary, Secondary, Tertiary, Organizational, and Date dimension tables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Platform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Power BI Premium on cloud infrastructure with extended monitoring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SectionHeader"/>
          <p:cNvSpPr txBox="1"/>
          <p:nvPr/>
        </p:nvSpPr>
        <p:spPr>
          <a:xfrm>
            <a:off x="349250" y="28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Baseline vs Optimized Model Comparison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55169"/>
              </p:ext>
            </p:extLst>
          </p:nvPr>
        </p:nvGraphicFramePr>
        <p:xfrm>
          <a:off x="349250" y="3150000"/>
          <a:ext cx="8400000" cy="198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Aspect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Baseline (Before)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Optimized (After)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Schema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Snowflake (denormalized dates)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Star (consolidated date table)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Calculated Columns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Excessive calculated columns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Minimal (eliminated)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Relationships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Many-to-many, bidirectional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One-to-many, unidirectional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Measures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Scattered across tables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Centralized measure table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Data Types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Text-based, runtime conversion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Numeric, enforced in Power Query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SectionHeader"/>
          <p:cNvSpPr txBox="1"/>
          <p:nvPr/>
        </p:nvSpPr>
        <p:spPr>
          <a:xfrm>
            <a:off x="349250" y="505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Test Scenarios and Metrics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123892"/>
              </p:ext>
            </p:extLst>
          </p:nvPr>
        </p:nvGraphicFramePr>
        <p:xfrm>
          <a:off x="349250" y="5400000"/>
          <a:ext cx="8400000" cy="116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Load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Time from visual selection to first pixel rendered (ms)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Query/Memory/CU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DAX processing time, model memory, capacity units per hour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User Perception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Responsiveness score (1-10 scale) via UAT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MCP-Based Analysis: Introduction</a:t>
            </a:r>
          </a:p>
        </p:txBody>
      </p:sp>
      <p:sp>
        <p:nvSpPr>
          <p:cNvPr id="50" name="SectionHeader"/>
          <p:cNvSpPr txBox="1"/>
          <p:nvPr/>
        </p:nvSpPr>
        <p:spPr>
          <a:xfrm>
            <a:off x="349250" y="10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Model Context Protocol (MCP) Overview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47697"/>
              </p:ext>
            </p:extLst>
          </p:nvPr>
        </p:nvGraphicFramePr>
        <p:xfrm>
          <a:off x="349250" y="1350000"/>
          <a:ext cx="8400000" cy="132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Capability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Programmatic metadata access for semantic model analysis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Core Functions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Model discovery, anti-pattern detection, optimization, validation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Integration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Seamless connection to external AI/automation tools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SectionHeader"/>
          <p:cNvSpPr txBox="1"/>
          <p:nvPr/>
        </p:nvSpPr>
        <p:spPr>
          <a:xfrm>
            <a:off x="349250" y="28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MCP vs Manual Analysis: ~90-95% Time Reduction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356145"/>
              </p:ext>
            </p:extLst>
          </p:nvPr>
        </p:nvGraphicFramePr>
        <p:xfrm>
          <a:off x="349250" y="3150000"/>
          <a:ext cx="8400000" cy="2220000"/>
        </p:xfrm>
        <a:graphic>
          <a:graphicData uri="http://schemas.openxmlformats.org/drawingml/2006/table">
            <a:tbl>
              <a:tblPr firstRow="1" bandRow="1"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Analysis Phase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MCP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Manual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Time Saved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Model Discovery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~3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30-45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~90%+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Anti-Pattern Detection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~5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2-3 hours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~95%+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Recommendations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~7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1.5-2 hours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~90%+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Validation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~3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30+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~90%+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~15-25 min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5-7+ hours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~90-95%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50" name="SectionHeader"/>
          <p:cNvSpPr txBox="1"/>
          <p:nvPr/>
        </p:nvSpPr>
        <p:spPr>
          <a:xfrm>
            <a:off x="349250" y="10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Key Performance Improvements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013863"/>
              </p:ext>
            </p:extLst>
          </p:nvPr>
        </p:nvGraphicFramePr>
        <p:xfrm>
          <a:off x="349250" y="1350000"/>
          <a:ext cx="8400000" cy="238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Driver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Report Load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~30-35% reduction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Simplified traversal, reduced payload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DAX Query Time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~10-15% 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Formula Engine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Model Memory Size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~20-25% reduction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Calculated column elimination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Refresh Duration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~15-25% 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Eliminated column overhead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CU Consumption/hr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~25-35% reduction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Identical user volume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Concurrent Throughput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~40-50% 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Multi-user performance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SectionHeader"/>
          <p:cNvSpPr txBox="1"/>
          <p:nvPr/>
        </p:nvSpPr>
        <p:spPr>
          <a:xfrm>
            <a:off x="349250" y="3900000"/>
            <a:ext cx="8400000" cy="3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Times New Roman"/>
                <a:cs typeface="Times New Roman"/>
              </a:rPr>
              <a:t>Detailed Breakdown and Cost Impact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91417"/>
              </p:ext>
            </p:extLst>
          </p:nvPr>
        </p:nvGraphicFramePr>
        <p:xfrm>
          <a:off x="349250" y="4250000"/>
          <a:ext cx="8400000" cy="2040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Improvement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Impact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Power Query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~20% faster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Data type optimization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DAX Compilation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~30-40% faster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Variable optimization, simplified formulas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Visual Rendering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~35-45% faster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Reduced payload from optimized model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Per Model Savings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$15K-$25K/year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Enterprise: $500K-$1M+ across 30-50 models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User Experience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+2 pts responsiveness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+2 pts filter smoothness in UAT</a:t>
                      </a:r>
                    </a:p>
                  </a:txBody>
                  <a:tcPr marL="45720" marR="45720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Findings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~30-35% load time reduction, ~10-15% query efficiency, ~25-35% CU reduction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 Impact: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~$15K-$25K annual savings per model; ~$500K-$1M+ enterprise scale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MCP reduces optimization time by ~90-95%, enabling systematic improvement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Substantial responsiveness improvement, increased adoption</a:t>
            </a:r>
          </a:p>
          <a:p>
            <a:pPr>
              <a:lnSpc>
                <a:spcPct val="80000"/>
              </a:lnSpc>
            </a:pPr>
            <a:endParaRPr lang="en-US" sz="40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Methodological Contributions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Framework: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Combines schema, relationship, and DAX optimization into cohesive methodology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MCP Innovation: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First documented application of MCP for semantic model analysis with validation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guidelines for development, operations, and finance teams</a:t>
            </a:r>
          </a:p>
          <a:p>
            <a:pPr>
              <a:lnSpc>
                <a:spcPct val="80000"/>
              </a:lnSpc>
            </a:pPr>
            <a:endParaRPr lang="en-US" sz="40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Scale: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Results may vary for extremely large enterprise datasets beyond tested scale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Impact varies by industry domain; generalizability confirmed for standard BI implementations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Extended Optimization Domains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 Query/Hybrid: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Extend framework beyond Import mode to reduce backend database load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Petabyte-Scale: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Validate on heterogeneous sources (SQL Server, Azure Synapse, Dataverse)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 optimization trade-offs for sub-second latency requirements</a:t>
            </a:r>
          </a:p>
          <a:p>
            <a:pPr>
              <a:lnSpc>
                <a:spcPct val="80000"/>
              </a:lnSpc>
            </a:pPr>
            <a:endParaRPr lang="en-US" sz="40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AI &amp; Automation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DAX: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learning-driven formula pattern detection and automated refactoring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MCP Expansion: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Power BI Fabric, third-party tools, open-source implementations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 Optimization: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Develop agents implementing optimizations autonomously with CI/CD integration</a:t>
            </a:r>
          </a:p>
          <a:p>
            <a:pPr>
              <a:lnSpc>
                <a:spcPct val="80000"/>
              </a:lnSpc>
            </a:pPr>
            <a:endParaRPr lang="en-US" sz="400"/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Enterprise Governance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Compliance Monitoring: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standards with automated compliance checking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 Management: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analysis across entire organization model portfolios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49250" y="1050000"/>
            <a:ext cx="8445500" cy="55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[1] Russo, M., &amp; Ferrari, A. (2020). The Definitive Guide to DAX (2nd ed.). Microsoft Press.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[2] Frsincar, R. et al. (2019). Performance analysis of semantic web data management systems. 421-442.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[3] Webb, C., &amp; Ferrari, A. (2018). Optimal performance with DAX. Packt Publishing.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[4] Russo, M. (2021). The DAX Studio Best Practices Whitepaper. SQLBI.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[5] Kim, S. et al. (2022). Antipatterns in enterprise BI systems. IEEE TSE, 48(5), 1634-1657.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[6] Sharma, A., &amp; Chen, M. (2023). K-C development standards impact. J. of BI Research, 14(2).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[7] Verma, R. et al. (2021). Cloud cost optimization in analytics. IEEE Cloud Computing, 8(3), 54-63.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[8] Microsoft. (2025). Power BI Documentation and Best Practices.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[9] Sevik, D. (2020). Tabular Editor: Advanced Development Features.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[10] Russo, M. (2021). DAX Studio: Query Profiling and Optimization.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[11] Pratt, B. (2022). Query folding optimization in Power Query. Data Transformation J., 7(1).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[12] Lopez, J. et al. (2021). CU consumption patterns in Power BI Premium. ICDM, 301-312.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[13] Anderson, M. et al. (2022). AutoML for semantic model optimization. ACM SIGMOD, 51(4).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[14] Chen, L. et al. (2023). Multi-modal optimization frameworks. IEEE TKDE, 35(2), 1423-1438.</a:t>
            </a:r>
          </a:p>
        </p:txBody>
      </p:sp>
      <p:sp>
        <p:nvSpPr>
          <p:cNvPr id="4" name="SlideNum"/>
          <p:cNvSpPr txBox="1"/>
          <p:nvPr/>
        </p:nvSpPr>
        <p:spPr>
          <a:xfrm>
            <a:off x="676939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34983</TotalTime>
  <Words>1910</Words>
  <Application>Microsoft Office PowerPoint</Application>
  <PresentationFormat>On-screen Show (4:3)</PresentationFormat>
  <Paragraphs>314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Modi, Nipun</cp:lastModifiedBy>
  <cp:revision>2306</cp:revision>
  <dcterms:created xsi:type="dcterms:W3CDTF">2010-04-09T07:36:15Z</dcterms:created>
  <dcterms:modified xsi:type="dcterms:W3CDTF">2026-05-04T03:35:35Z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MSIP_Label_ec3caa80-b45a-41c4-be35-6a080a795a59_Enabled">
    <vt:lpwstr>true</vt:lpwstr>
  </property>
  <property fmtid="{D5CDD505-2E9C-101B-9397-08002B2CF9AE}" pid="15" name="MSIP_Label_ec3caa80-b45a-41c4-be35-6a080a795a59_SetDate">
    <vt:lpwstr>2026-05-04T03:31:10Z</vt:lpwstr>
  </property>
  <property fmtid="{D5CDD505-2E9C-101B-9397-08002B2CF9AE}" pid="16" name="MSIP_Label_ec3caa80-b45a-41c4-be35-6a080a795a59_Method">
    <vt:lpwstr>Privileged</vt:lpwstr>
  </property>
  <property fmtid="{D5CDD505-2E9C-101B-9397-08002B2CF9AE}" pid="17" name="MSIP_Label_ec3caa80-b45a-41c4-be35-6a080a795a59_Name">
    <vt:lpwstr>ec3caa80-b45a-41c4-be35-6a080a795a59</vt:lpwstr>
  </property>
  <property fmtid="{D5CDD505-2E9C-101B-9397-08002B2CF9AE}" pid="18" name="MSIP_Label_ec3caa80-b45a-41c4-be35-6a080a795a59_SiteId">
    <vt:lpwstr>fee2180b-69b6-4afe-9f14-ccd70bd4c737</vt:lpwstr>
  </property>
  <property fmtid="{D5CDD505-2E9C-101B-9397-08002B2CF9AE}" pid="19" name="MSIP_Label_ec3caa80-b45a-41c4-be35-6a080a795a59_ActionId">
    <vt:lpwstr>6d1f1ba2-1121-4823-985e-6472172f3b1b</vt:lpwstr>
  </property>
  <property fmtid="{D5CDD505-2E9C-101B-9397-08002B2CF9AE}" pid="20" name="MSIP_Label_ec3caa80-b45a-41c4-be35-6a080a795a59_ContentBits">
    <vt:lpwstr>0</vt:lpwstr>
  </property>
  <property fmtid="{D5CDD505-2E9C-101B-9397-08002B2CF9AE}" pid="21" name="MSIP_Label_ec3caa80-b45a-41c4-be35-6a080a795a59_Tag">
    <vt:lpwstr>10, 0, 1, 1</vt:lpwstr>
  </property>
</Properties>
</file>